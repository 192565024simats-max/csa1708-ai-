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 2 — Technical Presentation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Agent Architectures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Real-World AI Systems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· Goal-Based · Utility-Based · Learning · Multi-Agent — powered by distributed PySpark data pipelines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25400">
            <a:solidFill>
              <a:srgbClr val="F4A8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Artificial Intelligence  |  Code: CSA17  |  CO5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E. Vidhya Sagar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192565024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126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Declaration: This submission is my own original work, prepared in accordance with the academic integrity guidelines of the assessment.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agent architectures, five real-world AI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108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81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928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Control — condition-action rules on streaming sensor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108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50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614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Diagnosis — goal formulation and treatment-pathway search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8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19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301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Recommendations — utility maximisation across catalog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66928" cy="566928"/>
          </a:xfrm>
          <a:prstGeom prst="ellipse">
            <a:avLst/>
          </a:prstGeom>
          <a:solidFill>
            <a:srgbClr val="1E82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108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87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4988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Education — performance, critic, and learning elements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66928" cy="566928"/>
          </a:xfrm>
          <a:prstGeom prst="ellipse">
            <a:avLst/>
          </a:prstGeom>
          <a:solidFill>
            <a:srgbClr val="B872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8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056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3675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— sensor, decision &amp; communication agents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Agent-Based Traffic Control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7040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intersections face unpredictable, bursty traffic volumes that fixed-timer signals cannot absorb.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decisions must be made in real time from continuous camera/sensor streams — there is no time for deep planning or lookahead search.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scale to many intersections simultaneously without a centralised bottleneck.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reduce average vehicle wait time using only the current traffic state at each junction.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Reflex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(Reactive) Agent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423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actions using only the current percept and fixed condition-action rules — no internal model of history, no planning ahead.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3794760"/>
            <a:ext cx="338328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0924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2062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intersection congestion by reacting to live queue-length data within a sub-second control loop.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→ Rule → Action Loop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/ Cameras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loops, CCTV feeds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07946" y="2189988"/>
            <a:ext cx="402336" cy="237744"/>
          </a:xfrm>
          <a:prstGeom prst="chevron">
            <a:avLst/>
          </a:prstGeom>
          <a:solidFill>
            <a:srgbClr val="C0392B"/>
          </a:solidFill>
          <a:ln/>
        </p:spPr>
      </p:sp>
      <p:sp>
        <p:nvSpPr>
          <p:cNvPr id="10" name="Shape 8"/>
          <p:cNvSpPr/>
          <p:nvPr/>
        </p:nvSpPr>
        <p:spPr>
          <a:xfrm>
            <a:off x="2618842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1994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91994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 per junction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8147" y="2189988"/>
            <a:ext cx="402336" cy="237744"/>
          </a:xfrm>
          <a:prstGeom prst="chevron">
            <a:avLst/>
          </a:prstGeom>
          <a:solidFill>
            <a:srgbClr val="C0392B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9043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62195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Aggregation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62195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 RDD, 5s window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8349" y="2189988"/>
            <a:ext cx="402336" cy="237744"/>
          </a:xfrm>
          <a:prstGeom prst="chevron">
            <a:avLst/>
          </a:prstGeom>
          <a:solidFill>
            <a:srgbClr val="C039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759245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32397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Condition-Action Rules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32397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decision table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18550" y="2189988"/>
            <a:ext cx="402336" cy="237744"/>
          </a:xfrm>
          <a:prstGeom prst="chevron">
            <a:avLst/>
          </a:prstGeom>
          <a:solidFill>
            <a:srgbClr val="C03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8829446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C0392B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902598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Actuator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02598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Green/red duration update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401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Decision Rule (example)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794760"/>
            <a:ext cx="10607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queue_length(North) &gt; 15 AND queue_length(South) &lt; 5 THEN extend_green(North, +10s)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pedestrian_request = TRUE AND vehicle_queue &lt; 3 THEN switch_to_pedestrian_phase()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previous cycles is consulted — every decision is recomputed purely from the latest windowed percept, which keeps the control loop fast and stateless.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Tools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949440" cy="2743200"/>
          </a:xfrm>
          <a:prstGeom prst="roundRect">
            <a:avLst>
              <a:gd name="adj" fmla="val 2000"/>
            </a:avLst>
          </a:prstGeom>
          <a:solidFill>
            <a:srgbClr val="1B2138"/>
          </a:solidFill>
          <a:ln w="12700">
            <a:solidFill>
              <a:srgbClr val="2E37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66202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queue_rdd = sensor_stream.map(lambda e: (e.lane_id, e.vehicle_count))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windowed = queue_rdd.reduceByKeyAndWindow(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a, b: a + b, windowDuration=5, slideDuration=1)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apply_rule(lane, count):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(lane, extend_green(lane) if count &gt; 15 else hold_signal(lane))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 = windowed.map(lambda kv: apply_rule(kv[0], kv[1]))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real-time sensor/camera event ingestion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 — windowed RDD aggregation per lane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— condition-action lookup, no ML inference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15087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sec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PERCEPT-TO-ACTION LATENCY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windows keep the reactive loop fast enough for live signal control.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352044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7F9F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9776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Reactivity trades foresight for speed: the agent cannot anticipate future congestion, but its statelessness is exactly what keeps every junction's control loop scalable and low-latency.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Goal-Based Agent for Healthcare Diagnosis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7040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symptoms are often consistent with several candidate diagnoses — a single reactive rule cannot resolve this ambiguity.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selection must satisfy an explicit goal (accurate diagnosis, minimal risk) rather than just react to the latest lab value.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must reason over sequences of tests/actions, weighing which next step best narrows the diagnostic space.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reach a confirmed diagnosis and safe treatment plan using structured search over patient data.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Goal-Based Agent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423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an internal model of patient state and an explicit goal (correct diagnosis, safe treatment), then searches over possible actions to reach that goal.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3794760"/>
            <a:ext cx="338328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0924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2062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treatment pathway that provably leads from the current patient state to a validated diagnostic and therapeutic goal state.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→ Goal Formulation → Search → Action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EHR, vitals, lab results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07946" y="2189988"/>
            <a:ext cx="402336" cy="23774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2618842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1994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91994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(Spark)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8147" y="2189988"/>
            <a:ext cx="402336" cy="23774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9043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62195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Formulation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62195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diagnoses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8349" y="2189988"/>
            <a:ext cx="402336" cy="23774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759245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32397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Search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32397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Constraint-checked planning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18550" y="2189988"/>
            <a:ext cx="402336" cy="237744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8829446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902598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02598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&amp; explainable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401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Decision Logic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794760"/>
            <a:ext cx="10607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state: a diagnosis confirmed with sufficient evidence AND a treatment plan with no contraindicated drug interactions.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searches over a decision tree of possible next tests/treatments, pruning branches that violate safety constraints (allergies, interactions).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reactive traffic agent, this agent keeps a running patient-state model across multiple visits/tests, not just the latest percept.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Tools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949440" cy="2743200"/>
          </a:xfrm>
          <a:prstGeom prst="roundRect">
            <a:avLst>
              <a:gd name="adj" fmla="val 2000"/>
            </a:avLst>
          </a:prstGeom>
          <a:solidFill>
            <a:srgbClr val="1B2138"/>
          </a:solidFill>
          <a:ln w="12700">
            <a:solidFill>
              <a:srgbClr val="2E37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66202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patients_rdd = sc.textFile("hdfs://ehr/records").map(parse_patient)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features_rdd = patients_rdd.map(lambda p: (p.id, extract_features(p)))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goal_test(state):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state.diagnosis_confidence &gt; 0.9 and not state.has_conflict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pathways = features_rdd.mapValues(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f: search_treatment_pathway(f, goal_test))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 — parallel feature extraction across patient records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knowledge base — contraindication &amp; interaction rules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Search/planning module — decision-tree traversal toward the goal 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15087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CONFIDENCE GOAL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halts once the goal test confirms a safe, sufficiently confident pathway.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352044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9776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goal explicit (rather than implicit in fixed rules) lets the agent justify every recommended test or treatment — critical for clinical explainability and auditability.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Utility-Based Agent for E-Commerce Recommendations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8E44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7040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candidate products can each validly "satisfy" a user's need — a goal-based yes/no test cannot rank them.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must trade off competing objectives: relevance vs. price vs. novelty vs. popularity.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must be computed across a massive catalog for every user session with low latency.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pick not just a satisfying item, but the one maximising expected user satisfaction.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Utility-Based Agent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423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numeric utility to each candidate action/state and selects the option with maximum expected utility, rather than merely one that satisfies a goal.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3794760"/>
            <a:ext cx="3383280" cy="0"/>
          </a:xfrm>
          <a:prstGeom prst="line">
            <a:avLst/>
          </a:prstGeom>
          <a:noFill/>
          <a:ln w="12700">
            <a:solidFill>
              <a:srgbClr val="8E44AD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0924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2062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overall user satisfaction by ranking products on a weighted combination of relevance, rating, price-fit, and novelty.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→ Utility Scoring → Ranking → Action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preferences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07946" y="2189988"/>
            <a:ext cx="402336" cy="237744"/>
          </a:xfrm>
          <a:prstGeom prst="chevron">
            <a:avLst/>
          </a:prstGeom>
          <a:solidFill>
            <a:srgbClr val="8E44AD"/>
          </a:solidFill>
          <a:ln/>
        </p:spPr>
      </p:sp>
      <p:sp>
        <p:nvSpPr>
          <p:cNvPr id="10" name="Shape 8"/>
          <p:cNvSpPr/>
          <p:nvPr/>
        </p:nvSpPr>
        <p:spPr>
          <a:xfrm>
            <a:off x="2618842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1994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Set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91994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filter (Spark)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8147" y="2189988"/>
            <a:ext cx="402336" cy="237744"/>
          </a:xfrm>
          <a:prstGeom prst="chevron">
            <a:avLst/>
          </a:prstGeom>
          <a:solidFill>
            <a:srgbClr val="8E44AD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9043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62195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Scoring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62195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multi-factor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8349" y="2189988"/>
            <a:ext cx="402336" cy="237744"/>
          </a:xfrm>
          <a:prstGeom prst="chevron">
            <a:avLst/>
          </a:prstGeom>
          <a:solidFill>
            <a:srgbClr val="8E44AD"/>
          </a:solidFill>
          <a:ln/>
        </p:spPr>
      </p:sp>
      <p:sp>
        <p:nvSpPr>
          <p:cNvPr id="18" name="Shape 16"/>
          <p:cNvSpPr/>
          <p:nvPr/>
        </p:nvSpPr>
        <p:spPr>
          <a:xfrm>
            <a:off x="6759245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32397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32397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expected utility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18550" y="2189988"/>
            <a:ext cx="402336" cy="237744"/>
          </a:xfrm>
          <a:prstGeom prst="chevron">
            <a:avLst/>
          </a:prstGeom>
          <a:solidFill>
            <a:srgbClr val="8E44AD"/>
          </a:solidFill>
          <a:ln/>
        </p:spPr>
      </p:sp>
      <p:sp>
        <p:nvSpPr>
          <p:cNvPr id="22" name="Shape 20"/>
          <p:cNvSpPr/>
          <p:nvPr/>
        </p:nvSpPr>
        <p:spPr>
          <a:xfrm>
            <a:off x="8829446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8E44AD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902598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Shown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02598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list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401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 (example)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794760"/>
            <a:ext cx="10607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U(item) = 0.4 × relevance + 0.3 × rating + 0.2 × price_fit + 0.1 × novelty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tuned per user segment via A/B testing, letting the same architecture serve very different shopper profiles.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goal-based agent's pass/fail test, every candidate here receives a graded score — the agent always has a total order over options to choose from.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Tools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949440" cy="2743200"/>
          </a:xfrm>
          <a:prstGeom prst="roundRect">
            <a:avLst>
              <a:gd name="adj" fmla="val 2000"/>
            </a:avLst>
          </a:prstGeom>
          <a:solidFill>
            <a:srgbClr val="1B2138"/>
          </a:solidFill>
          <a:ln w="12700">
            <a:solidFill>
              <a:srgbClr val="2E37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66202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catalog_rdd = sc.textFile("hdfs://catalog/items").map(parse_item)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candidates = catalog_rdd.filter(lambda i: matches_profile(i, user_bc.value))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utility(item):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(0.4*item.relevance + 0.3*item.rating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0.2*item.price_fit + 0.1*item.novelty)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= candidates.map(lambda i: (i, utility(i))).sortBy(lambda x: -x[1])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RDD — parallel utility scoring across the full catalog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— precomputed relevance/rating/price-fit signals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pipeline — utility-weight tuning per user segment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15087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8E44A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factors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UTILITY SIGNALS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Relevance, rating, price-fit and novelty are combined into one ranked score.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352044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7F9FC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9776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reasoning generalises goal-based reasoning: instead of a binary goal test, every option gets a graded score, which is essential whenever several choices are all technically valid.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82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Agent for Personalized Education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1E82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7040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content sequence cannot fit every learner's evolving pace and mastery level.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needs to improve its recommendations over time, not just apply a static rule or one-off utility score.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(quiz results, engagement) arrives continuously and must be folded back into future decisions at scale.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raise learning outcomes by adapting difficulty/pacing from accumulated feedback across thousands of learners.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1E82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Agent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423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 performance agent with a critic, a learning element, and a problem generator — so behaviour improves from feedback rather than staying fixed.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3794760"/>
            <a:ext cx="3383280" cy="0"/>
          </a:xfrm>
          <a:prstGeom prst="line">
            <a:avLst/>
          </a:prstGeom>
          <a:noFill/>
          <a:ln w="12700">
            <a:solidFill>
              <a:srgbClr val="1E824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0924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2062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adapt content difficulty and pacing per learner using quiz outcomes and engagement feedback.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82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Components of a Learning Agent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3408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824C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1856232"/>
            <a:ext cx="21945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Element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7829"/>
            <a:ext cx="21945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next content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9504" y="2189988"/>
            <a:ext cx="402336" cy="237744"/>
          </a:xfrm>
          <a:prstGeom prst="chevron">
            <a:avLst/>
          </a:prstGeom>
          <a:solidFill>
            <a:srgbClr val="1E824C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0" y="1783080"/>
            <a:ext cx="23408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824C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73552" y="1856232"/>
            <a:ext cx="21945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2287829"/>
            <a:ext cx="21945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outcome vs. feedback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41264" y="2189988"/>
            <a:ext cx="402336" cy="237744"/>
          </a:xfrm>
          <a:prstGeom prst="chevron">
            <a:avLst/>
          </a:prstGeom>
          <a:solidFill>
            <a:srgbClr val="1E82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1783080"/>
            <a:ext cx="2340864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E824C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925312" y="1856232"/>
            <a:ext cx="21945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Element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25312" y="2287829"/>
            <a:ext cx="21945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decision policy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93024" y="2189988"/>
            <a:ext cx="402336" cy="237744"/>
          </a:xfrm>
          <a:prstGeom prst="chevron">
            <a:avLst/>
          </a:prstGeom>
          <a:solidFill>
            <a:srgbClr val="1E824C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1783080"/>
            <a:ext cx="2340864" cy="1051560"/>
          </a:xfrm>
          <a:prstGeom prst="roundRect">
            <a:avLst>
              <a:gd name="adj" fmla="val 6957"/>
            </a:avLst>
          </a:prstGeom>
          <a:solidFill>
            <a:srgbClr val="1E824C"/>
          </a:solidFill>
          <a:ln w="19050">
            <a:solidFill>
              <a:srgbClr val="1E824C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577072" y="1856232"/>
            <a:ext cx="21945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Generator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577072" y="2287829"/>
            <a:ext cx="2194560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exploratory content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1E82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401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Loop Improves Performance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7947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compares quiz/engagement outcomes against a fixed performance standard and produces a feedback signal.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element uses that signal to adjust the performance element's content-selection policy for the next session.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generator occasionally suggests slightly novel content, preventing the agent from over-fitting to a narrow difficulty band.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82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Tools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949440" cy="2743200"/>
          </a:xfrm>
          <a:prstGeom prst="roundRect">
            <a:avLst>
              <a:gd name="adj" fmla="val 2000"/>
            </a:avLst>
          </a:prstGeom>
          <a:solidFill>
            <a:srgbClr val="1B2138"/>
          </a:solidFill>
          <a:ln w="12700">
            <a:solidFill>
              <a:srgbClr val="2E37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66202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logs_rdd = sc.textFile("hdfs://lms/attempts").map(parse_attempt)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outcomes = logs_rdd.map(lambda a: (a.learner_id, a.correct))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critic(outcomes_for_learner):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performance_gap(outcomes_for_learner, target=0.75)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policy_updates = outcomes.groupByKey().mapValues(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o: update_policy(critic(list(o))))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 — batch aggregation of attempt/engagement logs per learner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store — per-learner difficulty/pacing parameters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retraining — critic-driven policy updates each 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15087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1E82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MASTERY THRESHOLD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nudges policy whenever observed performance drifts from this target.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352044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7F9FC"/>
          </a:solidFill>
          <a:ln w="12700">
            <a:solidFill>
              <a:srgbClr val="1E82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9776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a learning agent from the utility-based one is that its own decision policy changes over time — the same architecture gets better at personalising as more feedback accumulates.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872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 for Disaster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B872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7040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agent has a complete, real-time view of a large disaster area — data is inherently distributed across sensors and regions.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(evacuate, dispatch resources) must be coordinated across many local agents without a slow central bottleneck.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agents must stay reliable even as network conditions degrade during a disaster.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coordinate detection, decision-making, and alerting across roles in real time.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B872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423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specialised agents (sensor, decision, communication) operate concurrently, each with partial local knowledge, and coordinate to reach decisions no single agent could make alone.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3794760"/>
            <a:ext cx="3383280" cy="0"/>
          </a:xfrm>
          <a:prstGeom prst="line">
            <a:avLst/>
          </a:prstGeom>
          <a:noFill/>
          <a:ln w="12700">
            <a:solidFill>
              <a:srgbClr val="B8720B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0924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2062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respond to disasters faster and more reliably than any single centralised agent by distributing perception, reasoning, and action across roles.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872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 Roles, One Coordinated Response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B8720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1792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Agents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collection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07946" y="2189988"/>
            <a:ext cx="402336" cy="237744"/>
          </a:xfrm>
          <a:prstGeom prst="chevron">
            <a:avLst/>
          </a:prstGeom>
          <a:solidFill>
            <a:srgbClr val="B8720B"/>
          </a:solidFill>
          <a:ln/>
        </p:spPr>
      </p:sp>
      <p:sp>
        <p:nvSpPr>
          <p:cNvPr id="10" name="Shape 8"/>
          <p:cNvSpPr/>
          <p:nvPr/>
        </p:nvSpPr>
        <p:spPr>
          <a:xfrm>
            <a:off x="2618842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B8720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1994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(Spark)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91994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sharing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8147" y="2189988"/>
            <a:ext cx="402336" cy="237744"/>
          </a:xfrm>
          <a:prstGeom prst="chevron">
            <a:avLst/>
          </a:prstGeom>
          <a:solidFill>
            <a:srgbClr val="B872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9043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B8720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62195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762195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risk assessment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8349" y="2189988"/>
            <a:ext cx="402336" cy="237744"/>
          </a:xfrm>
          <a:prstGeom prst="chevron">
            <a:avLst/>
          </a:prstGeom>
          <a:solidFill>
            <a:srgbClr val="B872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759245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B8720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32397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32397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routing &amp; relay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18550" y="2189988"/>
            <a:ext cx="402336" cy="237744"/>
          </a:xfrm>
          <a:prstGeom prst="chevron">
            <a:avLst/>
          </a:prstGeom>
          <a:solidFill>
            <a:srgbClr val="B8720B"/>
          </a:solidFill>
          <a:ln/>
        </p:spPr>
      </p:sp>
      <p:sp>
        <p:nvSpPr>
          <p:cNvPr id="22" name="Shape 20"/>
          <p:cNvSpPr/>
          <p:nvPr/>
        </p:nvSpPr>
        <p:spPr>
          <a:xfrm>
            <a:off x="8829446" y="1783080"/>
            <a:ext cx="1759306" cy="1051560"/>
          </a:xfrm>
          <a:prstGeom prst="roundRect">
            <a:avLst>
              <a:gd name="adj" fmla="val 6957"/>
            </a:avLst>
          </a:prstGeom>
          <a:solidFill>
            <a:srgbClr val="B8720B"/>
          </a:solidFill>
          <a:ln w="19050">
            <a:solidFill>
              <a:srgbClr val="B8720B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902598" y="1856232"/>
            <a:ext cx="161300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Response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02598" y="2287829"/>
            <a:ext cx="1613002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/ evacuation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872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4015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Strategy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794760"/>
            <a:ext cx="10607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agents publish local readings to a shared distributed store; no agent waits on a single central collector.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agents subscribe to fused regional data and negotiate (e.g., via a shared blackboard or voting protocol) when their local assessments disagree.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agents translate the agreed decision into role-specific alerts (authorities, evacuation systems, public broadcast) and confirm delivery.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872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8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FIVE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Tools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949440" cy="2743200"/>
          </a:xfrm>
          <a:prstGeom prst="roundRect">
            <a:avLst>
              <a:gd name="adj" fmla="val 2000"/>
            </a:avLst>
          </a:prstGeom>
          <a:solidFill>
            <a:srgbClr val="1B2138"/>
          </a:solidFill>
          <a:ln w="12700">
            <a:solidFill>
              <a:srgbClr val="2E37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18488"/>
            <a:ext cx="66202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sensor_rdd = sensor_stream.map(lambda e: (e.region, e.reading))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fused = sensor_rdd.groupByKey().mapValues(lambda r: fuse(list(r)))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decision_agent(region, fused_value):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escalate(region) if fused_value &gt; risk_threshold else monitor(region)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 = fused.map(lambda kv: decision_agent(kv[0], kv[1]))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 = decisions.filter(lambda d: d.escalated).map(route_alert)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RDD — distributed fusion of sensor readings by region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blackboard / message bus — inter-agent negotiation and data sharing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routing service — communication-agent delivery to authorities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150876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B872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roles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· DECISION · COMMUNICATION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cooperate instead of one agent handling every responsibility.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35240" y="352044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7F9FC"/>
          </a:solidFill>
          <a:ln w="12700">
            <a:solidFill>
              <a:srgbClr val="B872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9776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Distributing responsibility across sensor, decision, and communication agents lets the system keep functioning locally even if one region's link or agent fails — resilience a single centralised agent cannot offer.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CSA17 · Assessment Tool 2 · Technical Presentation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114800" cy="4114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Five Agent Architectures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77440" cy="566928"/>
          </a:xfrm>
          <a:prstGeom prst="rect">
            <a:avLst/>
          </a:prstGeom>
          <a:solidFill>
            <a:srgbClr val="F4A825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371600"/>
            <a:ext cx="4572000" cy="566928"/>
          </a:xfrm>
          <a:prstGeom prst="rect">
            <a:avLst/>
          </a:prstGeom>
          <a:solidFill>
            <a:srgbClr val="F4A825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13716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Basis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0" y="1371600"/>
            <a:ext cx="4114800" cy="566928"/>
          </a:xfrm>
          <a:prstGeom prst="rect">
            <a:avLst/>
          </a:prstGeom>
          <a:solidFill>
            <a:srgbClr val="F4A825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237744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9385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26080" y="1938528"/>
            <a:ext cx="457200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19385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percept + fixed rules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98080" y="1938528"/>
            <a:ext cx="411480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35240" y="19385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control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505456"/>
            <a:ext cx="2377440" cy="566928"/>
          </a:xfrm>
          <a:prstGeom prst="rect">
            <a:avLst/>
          </a:prstGeom>
          <a:solidFill>
            <a:srgbClr val="26308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5054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26080" y="2505456"/>
            <a:ext cx="4572000" cy="566928"/>
          </a:xfrm>
          <a:prstGeom prst="rect">
            <a:avLst/>
          </a:prstGeom>
          <a:solidFill>
            <a:srgbClr val="26308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63240" y="250545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goal test + search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0" y="2505456"/>
            <a:ext cx="4114800" cy="566928"/>
          </a:xfrm>
          <a:prstGeom prst="rect">
            <a:avLst/>
          </a:prstGeom>
          <a:solidFill>
            <a:srgbClr val="26308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25054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diagnosis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072384"/>
            <a:ext cx="237744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0723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26080" y="3072384"/>
            <a:ext cx="457200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63240" y="3072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weighted utility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98080" y="3072384"/>
            <a:ext cx="411480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35240" y="30723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639312"/>
            <a:ext cx="2377440" cy="566928"/>
          </a:xfrm>
          <a:prstGeom prst="rect">
            <a:avLst/>
          </a:prstGeom>
          <a:solidFill>
            <a:srgbClr val="26308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6393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926080" y="3639312"/>
            <a:ext cx="4572000" cy="566928"/>
          </a:xfrm>
          <a:prstGeom prst="rect">
            <a:avLst/>
          </a:prstGeom>
          <a:solidFill>
            <a:srgbClr val="26308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63240" y="36393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improves from feedback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498080" y="3639312"/>
            <a:ext cx="4114800" cy="566928"/>
          </a:xfrm>
          <a:prstGeom prst="rect">
            <a:avLst/>
          </a:prstGeom>
          <a:solidFill>
            <a:srgbClr val="26308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35240" y="36393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education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206240"/>
            <a:ext cx="237744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2062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926080" y="4206240"/>
            <a:ext cx="457200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63240" y="42062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roles + coordination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498080" y="4206240"/>
            <a:ext cx="4114800" cy="566928"/>
          </a:xfrm>
          <a:prstGeom prst="rect">
            <a:avLst/>
          </a:prstGeom>
          <a:solidFill>
            <a:srgbClr val="2C3690"/>
          </a:solidFill>
          <a:ln w="9525">
            <a:solidFill>
              <a:srgbClr val="3A459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35240" y="42062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760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&amp; Discussion Welcome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Vidhya Sagar  |  192565024  |  CSA17 — Artificial Intelligence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2026-09-02T03:19:52Z</dcterms:created>
  <dcterms:modified xsi:type="dcterms:W3CDTF">2026-09-02T03:19:52Z</dcterms:modified>
</cp:coreProperties>
</file>